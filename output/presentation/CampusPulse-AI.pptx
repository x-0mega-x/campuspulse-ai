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05d7c371414111" /><Relationship Type="http://schemas.openxmlformats.org/officeDocument/2006/relationships/extended-properties" Target="/docProps/app.xml" Id="R8c07ced93f724b28" /><Relationship Type="http://schemas.openxmlformats.org/officeDocument/2006/relationships/officeDocument" Target="/ppt/presentation.xml" Id="R1cbf012968a84b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9a0d1cb0ea4f4c"/>
  </p:sldMasterIdLst>
  <p:notesMasterIdLst>
    <p:notesMasterId xmlns:r="http://schemas.openxmlformats.org/officeDocument/2006/relationships" r:id="Rb6f4535bf9e14a8b"/>
  </p:notesMasterIdLst>
  <p:sldIdLst>
    <p:sldId xmlns:r="http://schemas.openxmlformats.org/officeDocument/2006/relationships" id="256" r:id="R97a1c18d9f4b4da2"/>
    <p:sldId xmlns:r="http://schemas.openxmlformats.org/officeDocument/2006/relationships" id="257" r:id="Racb556343adf488d"/>
    <p:sldId xmlns:r="http://schemas.openxmlformats.org/officeDocument/2006/relationships" id="258" r:id="Ra224bdbc12b14942"/>
    <p:sldId xmlns:r="http://schemas.openxmlformats.org/officeDocument/2006/relationships" id="259" r:id="R915e2ef69bae43ef"/>
    <p:sldId xmlns:r="http://schemas.openxmlformats.org/officeDocument/2006/relationships" id="260" r:id="Rb3a96223c15c41f7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b65ff453294810" /><Relationship Type="http://schemas.openxmlformats.org/officeDocument/2006/relationships/slideMaster" Target="/ppt/slideMasters/slideMaster1.xml" Id="R459a0d1cb0ea4f4c" /><Relationship Type="http://schemas.openxmlformats.org/officeDocument/2006/relationships/notesMaster" Target="/ppt/notesMasters/notesMaster1.xml" Id="Rb6f4535bf9e14a8b" /><Relationship Type="http://schemas.openxmlformats.org/officeDocument/2006/relationships/presProps" Target="/ppt/presProps.xml" Id="R45320ecd7d2244b0" /><Relationship Type="http://schemas.openxmlformats.org/officeDocument/2006/relationships/viewProps" Target="/ppt/viewProps.xml" Id="Rad93363f137d4532" /><Relationship Type="http://schemas.openxmlformats.org/officeDocument/2006/relationships/tableStyles" Target="/ppt/tableStyles.xml" Id="Rebd2385722084dff" /><Relationship Type="http://schemas.openxmlformats.org/officeDocument/2006/relationships/slide" Target="/ppt/slides/slide1.xml" Id="R97a1c18d9f4b4da2" /><Relationship Type="http://schemas.openxmlformats.org/officeDocument/2006/relationships/slide" Target="/ppt/slides/slide2.xml" Id="Racb556343adf488d" /><Relationship Type="http://schemas.openxmlformats.org/officeDocument/2006/relationships/slide" Target="/ppt/slides/slide3.xml" Id="Ra224bdbc12b14942" /><Relationship Type="http://schemas.openxmlformats.org/officeDocument/2006/relationships/slide" Target="/ppt/slides/slide4.xml" Id="R915e2ef69bae43ef" /><Relationship Type="http://schemas.openxmlformats.org/officeDocument/2006/relationships/slide" Target="/ppt/slides/slide5.xml" Id="Rb3a96223c15c41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b8b0257bbc4d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4df279dfdd46ab" /><Relationship Type="http://schemas.openxmlformats.org/officeDocument/2006/relationships/notesMaster" Target="/ppt/notesMasters/notesMaster1.xml" Id="Rad6ea8bcf49049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995766898c436f" /><Relationship Type="http://schemas.openxmlformats.org/officeDocument/2006/relationships/notesMaster" Target="/ppt/notesMasters/notesMaster1.xml" Id="Rac781fe64b8441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e6ca25f1eb43e4" /><Relationship Type="http://schemas.openxmlformats.org/officeDocument/2006/relationships/notesMaster" Target="/ppt/notesMasters/notesMaster1.xml" Id="Ra803128f1cd74b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83f54cb3d649a9" /><Relationship Type="http://schemas.openxmlformats.org/officeDocument/2006/relationships/notesMaster" Target="/ppt/notesMasters/notesMaster1.xml" Id="R0de9299d6d9241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9da9ac39944414" /><Relationship Type="http://schemas.openxmlformats.org/officeDocument/2006/relationships/notesMaster" Target="/ppt/notesMasters/notesMaster1.xml" Id="R6ea4925f592446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CampusPulse AI — локальный учебный помощник на Gemini и MCP. Команда: Адилет Бердыбеков, Булатов Артур, Зайниддин Айбек. Приложение работает с учебными материалами и рассчитывает расписание по заданным срокам и доступному времени. Источники: app.py, campuspulse/agent.py, campuspulse/tools.py.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Скриншот работающего локального приложения: docs/images/final-chat.jpg. Репозиторий и ответ на экране относятся к фактическому запросу через Gemini и MCP. Приложение принимает текстовые документы и фото. У чатов отдельные сообщения, вложения, задачи, план и репозиторий. Контекст хранится в памяти текущей сессии вкладки. Источники реализации: app.py, campuspulse/chats.py, campuspulse/attachments.py.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Реальный скриншот прототипа на учебном примере. «Лабораторная» и «Повторение лекции» — демонстрационные задачи, не задания университета. На экране 180 минут, четыре блока на два дня и кнопка экспорта .ics. В слайде использован обрезанный фрагмент основной области, сами данные и интерфейс не изменены. Источник: docs/images/plan-current.jpg. Расписание учитывает дневной бюджет, сроки и часовой пояс. Экспорт создаёт файл календаря, без автоматической записи в аккаунт. Источники реализации: campuspulse/tools.py, campuspulse/calendar_export.py.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Gemini выбирает инструменты и получает их результаты через MCP. MCP-сервер читает README и Issues GitHub, ищет по загруженным конспектам, получает время и рассчитывает сроки и расписание. Фотографии передаются модели непосредственно. Двусторонняя стрелка между Gemini и MCP обозначает запрос и результат инструмента. Журнал показывает фактические действия и их результаты. Источники: campuspulse/agent.py, campuspulse/mcp_server.py, campuspulse/tools.py, docs/live-run.json.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Локальная версия использует Gemini API и настоящий MCP-сервер. Автотесты и живой прогон подтвердили вызовы инструментов. Подготовленный процесс GCP: scripts/deploy.py упаковывает агент и зависимости, вызывает ReasoningEngine.create и сохраняет ресурс для удалённого API. campuspulse/cloud_client.py обращается к этому ресурсу, scripts/smoke_cloud.py проверяет развёрнутый endpoint. Agent Engine не развёрнут, успешный облачный запуск не заявляется. Источники: scripts/deploy.py, campuspulse/cloud_client.py, scripts/smoke_cloud.py, tests/, docs/live-run.json. Репозиторий проекта: https://github.com/X-0mEGa-X/campuspulse-ai.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2ddf4a830e4b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31f0fce60e4d0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1c43b3d0c640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155042c6764e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f06f28c29142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f9f8f181440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8A6A5F-2B13-4246-B930-0A5D6B0A9D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D46DBDC-6287-4BD7-9F9C-5595A0073D5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0AEC87F-83D5-4115-B134-C60BE8CEC7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08C48E-6591-4F08-8BB0-976D5E4EF1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472AB64-E5DE-409B-83BF-BA2E1EA880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3F3C342-FBB3-423B-9458-94BFB1927D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59B5DFD-91EF-4252-AF36-0BEC855112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2788154-4CEC-4AF3-BD1E-0D41A138A55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2D9373-261A-4D2C-9305-83E71B7B80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B246E4B-399F-4DC5-AB96-2612EC60F1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161eb389f44fb8" /><Relationship Type="http://schemas.openxmlformats.org/officeDocument/2006/relationships/slideLayout" Target="/ppt/slideLayouts/slideLayout1.xml" Id="R208dab83950a4cf3" /><Relationship Type="http://schemas.openxmlformats.org/officeDocument/2006/relationships/slideLayout" Target="/ppt/slideLayouts/slideLayout2.xml" Id="Re27a78a8fdb44a71" /><Relationship Type="http://schemas.openxmlformats.org/officeDocument/2006/relationships/slideLayout" Target="/ppt/slideLayouts/slideLayout3.xml" Id="R5b87542909dd4028" /><Relationship Type="http://schemas.openxmlformats.org/officeDocument/2006/relationships/slideLayout" Target="/ppt/slideLayouts/slideLayout4.xml" Id="R9456ebb9b9a14a63" /><Relationship Type="http://schemas.openxmlformats.org/officeDocument/2006/relationships/slideLayout" Target="/ppt/slideLayouts/slideLayout5.xml" Id="R73c990994dd04248" /><Relationship Type="http://schemas.openxmlformats.org/officeDocument/2006/relationships/slideLayout" Target="/ppt/slideLayouts/slideLayout6.xml" Id="R2d5feaa39b7f4b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8dab83950a4cf3"/>
    <p:sldLayoutId xmlns:r="http://schemas.openxmlformats.org/officeDocument/2006/relationships" id="2147483650" r:id="Re27a78a8fdb44a71"/>
    <p:sldLayoutId xmlns:r="http://schemas.openxmlformats.org/officeDocument/2006/relationships" id="2147483651" r:id="R5b87542909dd4028"/>
    <p:sldLayoutId xmlns:r="http://schemas.openxmlformats.org/officeDocument/2006/relationships" id="2147483652" r:id="R9456ebb9b9a14a63"/>
    <p:sldLayoutId xmlns:r="http://schemas.openxmlformats.org/officeDocument/2006/relationships" id="2147483653" r:id="R73c990994dd04248"/>
    <p:sldLayoutId xmlns:r="http://schemas.openxmlformats.org/officeDocument/2006/relationships" id="2147483654" r:id="R2d5feaa39b7f4b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48b0378dcb4e0c" /><Relationship Type="http://schemas.openxmlformats.org/officeDocument/2006/relationships/notesSlide" Target="/ppt/notesSlides/notesSlide1.xml" Id="R1f4ea7712fdb45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a5f674cbcc4bb6" /><Relationship Type="http://schemas.openxmlformats.org/officeDocument/2006/relationships/image" Target="/ppt/media/image.jpeg" Id="R8877ddb37f0747de" /><Relationship Type="http://schemas.openxmlformats.org/officeDocument/2006/relationships/notesSlide" Target="/ppt/notesSlides/notesSlide2.xml" Id="Rbeb86dae359e47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52cd97ecc3482e" /><Relationship Type="http://schemas.openxmlformats.org/officeDocument/2006/relationships/image" Target="/ppt/media/image2.jpeg" Id="Rc3efe0cdad624147" /><Relationship Type="http://schemas.openxmlformats.org/officeDocument/2006/relationships/notesSlide" Target="/ppt/notesSlides/notesSlide3.xml" Id="Ra3d25f09ed4a4d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96cfa714c84e5b" /><Relationship Type="http://schemas.openxmlformats.org/officeDocument/2006/relationships/notesSlide" Target="/ppt/notesSlides/notesSlide4.xml" Id="Rf4e27b401c1446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1c85116a404d87" /><Relationship Type="http://schemas.openxmlformats.org/officeDocument/2006/relationships/hyperlink" Target="https://github.com/X-0mEGa-X/campuspulse-ai" TargetMode="External" Id="Red1fb9fa7f06417e" /><Relationship Type="http://schemas.openxmlformats.org/officeDocument/2006/relationships/notesSlide" Target="/ppt/notesSlides/notesSlide5.xml" Id="R08791d5f69f84a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75BD4CF-B3E5-4FBF-80B9-3C72D81D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Кейс № 2 / GDG Astana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DA89C384-5969-429E-9B34-E30FF90B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83873AE-0E2A-42A3-8992-0D266F55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3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60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63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E6EDF5"/>
                </a:solidFill>
                <a:latin typeface="Arial"/>
                <a:ea typeface="Arial"/>
                <a:cs typeface="Arial"/>
              </a:rPr>
              <a:t>CampusPulse AI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251F083-33F9-4273-B0A8-0AEF50B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14675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25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75E1CE"/>
                </a:solidFill>
                <a:latin typeface="Arial"/>
                <a:ea typeface="Arial"/>
                <a:cs typeface="Arial"/>
              </a:rPr>
              <a:t>Учебный помощник</a:t>
            </a:r>
          </a:p>
          <a:p xmlns:a="http://schemas.openxmlformats.org/drawingml/2006/main">
            <a:pPr>
              <a:buNone/>
              <a:defRPr sz="3300" b="0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75E1CE"/>
                </a:solidFill>
                <a:latin typeface="Arial"/>
                <a:ea typeface="Arial"/>
                <a:cs typeface="Arial"/>
              </a:rPr>
              <a:t>на Gemini и MCP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A299A937-1E14-4BA3-AD1D-4E7E74EC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38675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Разбирает материалы и помогает распределить</a:t>
            </a:r>
          </a:p>
          <a:p xmlns:a="http://schemas.openxmlformats.org/drawingml/2006/main">
            <a:pPr>
              <a:buNone/>
              <a:defRPr sz="21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задачи по доступному времени.</a:t>
            </a:r>
          </a:p>
        </p:txBody>
      </p:sp>
      <p:sp>
        <p:nvSpPr>
          <p:cNvPr id="10" name="team-names">
            <a:extLst xmlns:a="http://schemas.openxmlformats.org/drawingml/2006/main">
              <a:ext uri="{FF2B5EF4-FFF2-40B4-BE49-F238E27FC236}">
                <a16:creationId xmlns:a16="http://schemas.microsoft.com/office/drawing/2014/main" id="{68FE143D-369B-47FF-91B1-322303AA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1078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Адилет Бердыбеков | Булатов Артур | Зайниддин Айбек</a:t>
            </a:r>
          </a:p>
        </p:txBody>
      </p:sp>
    </p:spTree>
    <p:extLst>
      <p:ext uri="{BB962C8B-B14F-4D97-AF65-F5344CB8AC3E}">
        <p14:creationId xmlns:p14="http://schemas.microsoft.com/office/powerpoint/2010/main" val="2923310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C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BB9983B-8200-45FB-8DB2-69137742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E6EDF5"/>
                </a:solidFill>
                <a:latin typeface="Arial"/>
                <a:ea typeface="Arial"/>
                <a:cs typeface="Arial"/>
              </a:rPr>
              <a:t>Чат с материалами и источниками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DE49E0F-54D5-4CB2-83B8-C25918BF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D25D53B-64DE-4225-8A3F-D66B5C8B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Файлы и фото в сообщении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45653716-1371-4DCA-98D4-CC1C0AD7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613410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Разные чаты со своим контекстом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276B0-FCDD-4B4D-B1C4-DC6F4448AD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7ddb37f0747de"/>
          <a:srcRect xmlns:a="http://schemas.openxmlformats.org/drawingml/2006/main" l="0" t="8000" r="0" b="18000"/>
          <a:stretch xmlns:a="http://schemas.openxmlformats.org/drawingml/2006/main"/>
        </p:blipFill>
        <p:spPr>
          <a:xfrm xmlns:a="http://schemas.openxmlformats.org/drawingml/2006/main">
            <a:off x="685800" y="1485900"/>
            <a:ext cx="10820400" cy="45053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1084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C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CA57D76-C7F2-424B-8054-C220ABA0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6EDF5"/>
                </a:solidFill>
                <a:latin typeface="Arial"/>
                <a:ea typeface="Arial"/>
                <a:cs typeface="Arial"/>
              </a:rPr>
              <a:t>План по срокам и доступному времени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A8F9A1D-78CB-4000-933F-95CAEB61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4BEBA81B-9C63-4D93-B05E-E1233CD6C4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fe0cdad624147"/>
          <a:srcRect xmlns:a="http://schemas.openxmlformats.org/drawingml/2006/main" l="28600" t="32000" r="5500" b="12000"/>
          <a:stretch xmlns:a="http://schemas.openxmlformats.org/drawingml/2006/main"/>
        </p:blipFill>
        <p:spPr>
          <a:xfrm xmlns:a="http://schemas.openxmlformats.org/drawingml/2006/main">
            <a:off x="3524250" y="2028825"/>
            <a:ext cx="7981950" cy="3810000"/>
          </a:xfrm>
          <a:prstGeom xmlns:a="http://schemas.openxmlformats.org/drawingml/2006/main" prst="rect">
            <a:avLst/>
          </a:prstGeom>
        </p:spPr>
      </p:pic>
      <p:sp>
        <p:nvSpPr>
          <p:cNvPr id="6" name="plan-example">
            <a:extLst xmlns:a="http://schemas.openxmlformats.org/drawingml/2006/main">
              <a:ext uri="{FF2B5EF4-FFF2-40B4-BE49-F238E27FC236}">
                <a16:creationId xmlns:a16="http://schemas.microsoft.com/office/drawing/2014/main" id="{71733784-F3C0-4C67-B5A8-73FCE472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2882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Учебный пример</a:t>
            </a:r>
          </a:p>
        </p:txBody>
      </p:sp>
      <p:sp>
        <p:nvSpPr>
          <p:cNvPr id="7" name="plan-example-value">
            <a:extLst xmlns:a="http://schemas.openxmlformats.org/drawingml/2006/main">
              <a:ext uri="{FF2B5EF4-FFF2-40B4-BE49-F238E27FC236}">
                <a16:creationId xmlns:a16="http://schemas.microsoft.com/office/drawing/2014/main" id="{BD1166A6-BBEF-4D1F-8F04-FFCCA5C8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2667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180 минут</a:t>
            </a:r>
          </a:p>
          <a:p xmlns:a="http://schemas.openxmlformats.org/drawingml/2006/main">
            <a:pPr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4 блока на 2 дня</a:t>
            </a:r>
          </a:p>
        </p:txBody>
      </p:sp>
      <p:sp>
        <p:nvSpPr>
          <p:cNvPr id="8" name="calendar-export">
            <a:extLst xmlns:a="http://schemas.openxmlformats.org/drawingml/2006/main">
              <a:ext uri="{FF2B5EF4-FFF2-40B4-BE49-F238E27FC236}">
                <a16:creationId xmlns:a16="http://schemas.microsoft.com/office/drawing/2014/main" id="{82A7E8FD-AA71-4995-AC0D-9FAE82FA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Календарь .ics</a:t>
            </a:r>
          </a:p>
        </p:txBody>
      </p:sp>
      <p:sp>
        <p:nvSpPr>
          <p:cNvPr id="9" name="calendar-description">
            <a:extLst xmlns:a="http://schemas.openxmlformats.org/drawingml/2006/main">
              <a:ext uri="{FF2B5EF4-FFF2-40B4-BE49-F238E27FC236}">
                <a16:creationId xmlns:a16="http://schemas.microsoft.com/office/drawing/2014/main" id="{DB439DC8-6602-472D-A5F9-E4B306D6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Занятия готовы</a:t>
            </a:r>
          </a:p>
          <a:p xmlns:a="http://schemas.openxmlformats.org/drawingml/2006/main">
            <a:pPr>
              <a:defRPr sz="18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для импорта</a:t>
            </a:r>
          </a:p>
        </p:txBody>
      </p:sp>
    </p:spTree>
    <p:extLst>
      <p:ext uri="{BB962C8B-B14F-4D97-AF65-F5344CB8AC3E}">
        <p14:creationId xmlns:p14="http://schemas.microsoft.com/office/powerpoint/2010/main" val="18576248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C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482080-93BB-4548-B1D1-93127642BA41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353300" y="29527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E1CE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23" name="Прямая со стрелкой 22">
            <a:extLst xmlns:a="http://schemas.openxmlformats.org/drawingml/2006/main">
              <a:ext uri="{FF2B5EF4-FFF2-40B4-BE49-F238E27FC236}">
                <a16:creationId xmlns:a16="http://schemas.microsoft.com/office/drawing/2014/main" id="{D7F4ABF0-A455-403F-A695-18A690C41835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9953625" y="3771900"/>
            <a:ext cx="0" cy="676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E1CE"/>
            </a:solidFill>
            <a:prstDash val="solid"/>
            <a:tailEnd type="arrow" w="med" len="med"/>
          </a:ln>
        </p:spPr>
      </p:cxnSp>
      <p:cxnSp>
        <p:nvCxnSpPr>
          <p:cNvPr id="22" name="Прямая со стрелкой 21">
            <a:extLst xmlns:a="http://schemas.openxmlformats.org/drawingml/2006/main">
              <a:ext uri="{FF2B5EF4-FFF2-40B4-BE49-F238E27FC236}">
                <a16:creationId xmlns:a16="http://schemas.microsoft.com/office/drawing/2014/main" id="{442FCEBF-6539-491C-A2B7-12159F00B5C3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5905500" y="3771900"/>
            <a:ext cx="0" cy="676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E1CE"/>
            </a:solidFill>
            <a:prstDash val="solid"/>
            <a:tailEnd type="arrow" w="med" len="med"/>
          </a:ln>
        </p:spPr>
      </p:cxnSp>
      <p:cxnSp>
        <p:nvCxnSpPr>
          <p:cNvPr id="14" name="Прямая со стрелкой 13">
            <a:extLst xmlns:a="http://schemas.openxmlformats.org/drawingml/2006/main">
              <a:ext uri="{FF2B5EF4-FFF2-40B4-BE49-F238E27FC236}">
                <a16:creationId xmlns:a16="http://schemas.microsoft.com/office/drawing/2014/main" id="{C7B11046-9EF6-48AA-9932-D05E8021F29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409950" y="29527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E1CE"/>
            </a:solidFill>
            <a:prstDash val="solid"/>
            <a:tailEnd type="arrow" w="med" len="med"/>
          </a:ln>
        </p:spPr>
      </p:cxn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48B084A-4FD5-40C3-8841-30FA2258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E6EDF5"/>
                </a:solidFill>
                <a:latin typeface="Arial"/>
                <a:ea typeface="Arial"/>
                <a:cs typeface="Arial"/>
              </a:rPr>
              <a:t>Gemini и MCP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9B8A9975-9F9E-4A0C-ACCA-2CF1E31B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Прямоугольник: скругленные углы 4">
            <a:extLst xmlns:a="http://schemas.openxmlformats.org/drawingml/2006/main">
              <a:ext uri="{FF2B5EF4-FFF2-40B4-BE49-F238E27FC236}">
                <a16:creationId xmlns:a16="http://schemas.microsoft.com/office/drawing/2014/main" id="{CE9AF8DA-5095-478A-8F8F-DA47320E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27241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52333"/>
          </a:solidFill>
          <a:ln xmlns:a="http://schemas.openxmlformats.org/drawingml/2006/main" w="9525">
            <a:solidFill>
              <a:srgbClr val="2A3B4E"/>
            </a:solidFill>
          </a:ln>
        </p:spPr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DE54587-FFFF-4E33-A5C8-1CCA833E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2305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Streamlit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E0B187C-BC4C-4F6B-9BC5-FCD4D493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67025"/>
            <a:ext cx="2305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Сообщение, файлы</a:t>
            </a:r>
          </a:p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и задачи чата</a:t>
            </a:r>
          </a:p>
        </p:txBody>
      </p:sp>
      <p:sp>
        <p:nvSpPr>
          <p:cNvPr id="8" name="Прямоугольник: скругленные углы 7">
            <a:extLst xmlns:a="http://schemas.openxmlformats.org/drawingml/2006/main">
              <a:ext uri="{FF2B5EF4-FFF2-40B4-BE49-F238E27FC236}">
                <a16:creationId xmlns:a16="http://schemas.microsoft.com/office/drawing/2014/main" id="{EE731C70-D447-4EA1-9F79-F261DEBA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895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52333"/>
          </a:solidFill>
          <a:ln xmlns:a="http://schemas.openxmlformats.org/drawingml/2006/main" w="9525">
            <a:solidFill>
              <a:srgbClr val="2A3B4E"/>
            </a:solidFill>
          </a:ln>
        </p:spPr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FF0B702-6803-494D-A69B-DCA8576B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431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Агент Gemini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B0C8D4F-D19B-4271-9FDE-83CB0C4B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67025"/>
            <a:ext cx="2476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Выбирает инструмент</a:t>
            </a:r>
          </a:p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и объясняет результат</a:t>
            </a:r>
          </a:p>
        </p:txBody>
      </p:sp>
      <p:sp>
        <p:nvSpPr>
          <p:cNvPr id="11" name="Прямоугольник: скругленные углы 10">
            <a:extLst xmlns:a="http://schemas.openxmlformats.org/drawingml/2006/main">
              <a:ext uri="{FF2B5EF4-FFF2-40B4-BE49-F238E27FC236}">
                <a16:creationId xmlns:a16="http://schemas.microsoft.com/office/drawing/2014/main" id="{029208CA-2723-4F83-933A-8F63385A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33600"/>
            <a:ext cx="31051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52333"/>
          </a:solidFill>
          <a:ln xmlns:a="http://schemas.openxmlformats.org/drawingml/2006/main" w="9525">
            <a:solidFill>
              <a:srgbClr val="2A3B4E"/>
            </a:solidFill>
          </a:ln>
        </p:spPr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129AB449-8201-4880-885F-7EEC0629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686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MCP-инструменты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AE329482-610C-499A-87DC-ED1539C3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67025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Читают источники</a:t>
            </a:r>
          </a:p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и строят расписание</a:t>
            </a:r>
          </a:p>
        </p:txBody>
      </p:sp>
      <p:sp>
        <p:nvSpPr>
          <p:cNvPr id="16" name="Прямоугольник: скругленные углы 15">
            <a:extLst xmlns:a="http://schemas.openxmlformats.org/drawingml/2006/main">
              <a:ext uri="{FF2B5EF4-FFF2-40B4-BE49-F238E27FC236}">
                <a16:creationId xmlns:a16="http://schemas.microsoft.com/office/drawing/2014/main" id="{80B1C1B1-C406-41EE-BF50-E6AD102A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48175"/>
            <a:ext cx="28956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2333"/>
          </a:solidFill>
          <a:ln xmlns:a="http://schemas.openxmlformats.org/drawingml/2006/main" w="9525">
            <a:solidFill>
              <a:srgbClr val="2A3B4E"/>
            </a:solidFill>
          </a:ln>
        </p:spPr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7E9E293D-B7B7-4584-B5D9-F3353C46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57725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E9898C57-00D0-43FF-9E76-F815CE0D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81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Ответ с источниками</a:t>
            </a:r>
          </a:p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и учебный план</a:t>
            </a:r>
          </a:p>
        </p:txBody>
      </p:sp>
      <p:sp>
        <p:nvSpPr>
          <p:cNvPr id="19" name="Прямоугольник: скругленные углы 18">
            <a:extLst xmlns:a="http://schemas.openxmlformats.org/drawingml/2006/main">
              <a:ext uri="{FF2B5EF4-FFF2-40B4-BE49-F238E27FC236}">
                <a16:creationId xmlns:a16="http://schemas.microsoft.com/office/drawing/2014/main" id="{2DB538D0-EC3A-4E6F-ABC0-CE22DB1A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448175"/>
            <a:ext cx="31051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2333"/>
          </a:solidFill>
          <a:ln xmlns:a="http://schemas.openxmlformats.org/drawingml/2006/main" w="9525">
            <a:solidFill>
              <a:srgbClr val="2A3B4E"/>
            </a:solidFill>
          </a:ln>
        </p:spPr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AB6C9B64-BE05-41FA-9FAA-E49B1DD6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657725"/>
            <a:ext cx="2686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Источники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89D1E1B3-C264-436F-AFBE-1986919E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81600"/>
            <a:ext cx="2686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GitHub README,</a:t>
            </a:r>
          </a:p>
          <a:p xmlns:a="http://schemas.openxmlformats.org/drawingml/2006/main">
            <a:pPr>
              <a:buNone/>
              <a:defRPr sz="172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Issues и конспекты</a:t>
            </a:r>
          </a:p>
        </p:txBody>
      </p:sp>
      <p:sp>
        <p:nvSpPr>
          <p:cNvPr id="24" name="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0B66DC5E-C2F7-4D9A-A2C5-8F919E65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3048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В журнале видны</a:t>
            </a:r>
          </a:p>
          <a:p xmlns:a="http://schemas.openxmlformats.org/drawingml/2006/main">
            <a: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вызовы инструментов</a:t>
            </a:r>
          </a:p>
          <a:p xmlns:a="http://schemas.openxmlformats.org/drawingml/2006/main">
            <a: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и их 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5679277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C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2E9DA7-155A-4C7B-AB43-9C99980B30A8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686675" y="5086350"/>
            <a:ext cx="10191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E1CE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92AD8-9E85-42F5-9ADB-BED6244AE0C1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257550" y="508635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5E1CE"/>
            </a:solidFill>
            <a:prstDash val="solid"/>
            <a:tailEnd type="arrow" w="med" len="med"/>
          </a:ln>
        </p:spPr>
      </p:cxn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D766D1E-312E-4284-80C2-D63DDDEF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7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6EDF5"/>
                </a:solidFill>
                <a:latin typeface="Arial"/>
                <a:ea typeface="Arial"/>
                <a:cs typeface="Arial"/>
              </a:rPr>
              <a:t>Локальная версия и развёртывание в GCP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F3925B9B-36CE-44BE-8549-3AD6DB80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4842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3B1CBF1-D8A2-441E-8EFE-6B92D575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75E1CE"/>
                </a:solidFill>
                <a:latin typeface="Arial"/>
                <a:ea typeface="Arial"/>
                <a:cs typeface="Arial"/>
              </a:rPr>
              <a:t>Работает локально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4A07B91-C431-435A-9573-142E77AB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Gemini API и MCP</a:t>
            </a:r>
          </a:p>
          <a:p xmlns:a="http://schemas.openxmlformats.org/drawingml/2006/main">
            <a:pPr>
              <a:buNone/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Чаты с вложениями</a:t>
            </a:r>
          </a:p>
          <a:p xmlns:a="http://schemas.openxmlformats.org/drawingml/2006/main">
            <a:pPr>
              <a:buNone/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План и экспорт в календарь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35F9C4D6-C2C0-4BB2-8040-EBDCA470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914525"/>
            <a:ext cx="49815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6EDF5"/>
                </a:solidFill>
                <a:latin typeface="Arial"/>
                <a:ea typeface="Arial"/>
                <a:cs typeface="Arial"/>
              </a:rPr>
              <a:t>Проверено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4FBF14-9C6D-491A-ABCE-AE2F9792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33650"/>
            <a:ext cx="49815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Автотесты</a:t>
            </a:r>
          </a:p>
          <a:p xmlns:a="http://schemas.openxmlformats.org/drawingml/2006/main">
            <a:pPr>
              <a:buNone/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Реальные вызовы</a:t>
            </a:r>
          </a:p>
          <a:p xmlns:a="http://schemas.openxmlformats.org/drawingml/2006/main">
            <a:pPr>
              <a:buNone/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Gemini и инструментов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6986C1D-33D3-4819-9254-78AC47B2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F0C6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C674"/>
                </a:solidFill>
                <a:latin typeface="Arial"/>
                <a:ea typeface="Arial"/>
                <a:cs typeface="Arial"/>
              </a:rPr>
              <a:t>Agent Engine не развёрнут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9447B8-4CB3-47EB-920C-39D7C20A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9EAFB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9EAFBF"/>
                </a:solidFill>
                <a:latin typeface="Arial"/>
                <a:ea typeface="Arial"/>
                <a:cs typeface="Arial"/>
              </a:rPr>
              <a:t>Подготовленный процесс развёртывания</a:t>
            </a:r>
          </a:p>
        </p:txBody>
      </p:sp>
      <p:sp>
        <p:nvSpPr>
          <p:cNvPr id="12" name="deploy-package">
            <a:extLst xmlns:a="http://schemas.openxmlformats.org/drawingml/2006/main">
              <a:ext uri="{FF2B5EF4-FFF2-40B4-BE49-F238E27FC236}">
                <a16:creationId xmlns:a16="http://schemas.microsoft.com/office/drawing/2014/main" id="{7DA376DD-DDD9-4F4A-9889-BF07B0C1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Пакет агента</a:t>
            </a:r>
          </a:p>
        </p:txBody>
      </p:sp>
      <p:sp>
        <p:nvSpPr>
          <p:cNvPr id="13" name="deploy-create">
            <a:extLst xmlns:a="http://schemas.openxmlformats.org/drawingml/2006/main">
              <a:ext uri="{FF2B5EF4-FFF2-40B4-BE49-F238E27FC236}">
                <a16:creationId xmlns:a16="http://schemas.microsoft.com/office/drawing/2014/main" id="{F795538F-C72E-46D3-889A-C55B4BC6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810125"/>
            <a:ext cx="352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ReasoningEngine.create</a:t>
            </a:r>
          </a:p>
        </p:txBody>
      </p:sp>
      <p:sp>
        <p:nvSpPr>
          <p:cNvPr id="14" name="deploy-api">
            <a:extLst xmlns:a="http://schemas.openxmlformats.org/drawingml/2006/main">
              <a:ext uri="{FF2B5EF4-FFF2-40B4-BE49-F238E27FC236}">
                <a16:creationId xmlns:a16="http://schemas.microsoft.com/office/drawing/2014/main" id="{B14E5C2A-D3CC-467B-A1AF-D365EC7F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0125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6EDF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6EDF5"/>
                </a:solidFill>
                <a:latin typeface="Arial"/>
                <a:ea typeface="Arial"/>
                <a:cs typeface="Arial"/>
              </a:rPr>
              <a:t>Удалённый API</a:t>
            </a:r>
          </a:p>
        </p:txBody>
      </p:sp>
      <p:sp>
        <p:nvSpPr>
          <p:cNvPr id="17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B0CC56E1-83CD-4858-855F-CA651B4A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defPPr>
            <a:lvl1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1pPr>
            <a:lvl2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2pPr>
            <a:lvl3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3pPr>
            <a:lvl4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4pPr>
            <a:lvl5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5pPr>
            <a:lvl6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6pPr>
            <a:lvl7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7pPr>
            <a:lvl8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8pPr>
            <a:lvl9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 u="sng">
                <a:solidFill>
                  <a:srgbClr val="75E1CE"/>
                </a:solidFill>
                <a:latin typeface="Arial"/>
                <a:ea typeface="Arial"/>
                <a:cs typeface="Arial"/>
              </a:defRPr>
            </a:pPr>
            <a:r>
              <a:rPr sz="1800" b="0" u="sng">
                <a:solidFill>
                  <a:srgbClr val="75E1CE"/>
                </a:solidFill>
                <a:latin typeface="Arial"/>
                <a:ea typeface="Arial"/>
                <a:cs typeface="Arial"/>
                <a:hlinkClick xmlns:r="http://schemas.openxmlformats.org/officeDocument/2006/relationships" r:id="Red1fb9fa7f06417e"/>
              </a:rPr>
              <a:t>github.com/X-0mEGa-X/campuspulse-ai</a:t>
            </a:r>
          </a:p>
        </p:txBody>
      </p:sp>
    </p:spTree>
    <p:extLst>
      <p:ext uri="{BB962C8B-B14F-4D97-AF65-F5344CB8AC3E}">
        <p14:creationId xmlns:p14="http://schemas.microsoft.com/office/powerpoint/2010/main" val="2457063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Адилет Бердыбеков | Булатов Артур | Зайниддин Айбек</dc:creator>
  <cp:lastModifiedBy>Адилет Бердыбеков | Булатов Артур | Зайниддин Айбек</cp:lastModifiedBy>
  <dc:title>CampusPulse AI</dc:title>
  <dcterms:created xsi:type="dcterms:W3CDTF">2026-10-19T18:43:06.4800000Z</dcterms:created>
  <dcterms:modified xsi:type="dcterms:W3CDTF">2026-10-19T18:43:06.4800000Z</dcterms:modified>
</cp:coreProperties>
</file>