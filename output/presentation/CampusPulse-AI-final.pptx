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3a8b0987a4061" /><Relationship Type="http://schemas.openxmlformats.org/officeDocument/2006/relationships/extended-properties" Target="/docProps/app.xml" Id="R867f5beb7b9b4340" /><Relationship Type="http://schemas.openxmlformats.org/officeDocument/2006/relationships/officeDocument" Target="/ppt/presentation.xml" Id="Ra7a9db82a283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1311acf814504"/>
  </p:sldMasterIdLst>
  <p:notesMasterIdLst>
    <p:notesMasterId xmlns:r="http://schemas.openxmlformats.org/officeDocument/2006/relationships" r:id="Re46e6663aa2b4fcf"/>
  </p:notesMasterIdLst>
  <p:sldIdLst>
    <p:sldId xmlns:r="http://schemas.openxmlformats.org/officeDocument/2006/relationships" id="256" r:id="R25459b3558434b9c"/>
    <p:sldId xmlns:r="http://schemas.openxmlformats.org/officeDocument/2006/relationships" id="257" r:id="R40504985c76f421c"/>
    <p:sldId xmlns:r="http://schemas.openxmlformats.org/officeDocument/2006/relationships" id="258" r:id="R3628f87a68ed48da"/>
    <p:sldId xmlns:r="http://schemas.openxmlformats.org/officeDocument/2006/relationships" id="259" r:id="R1318da70d5ff4128"/>
    <p:sldId xmlns:r="http://schemas.openxmlformats.org/officeDocument/2006/relationships" id="260" r:id="Rececea2c9bc846d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de6d1145a94912" /><Relationship Type="http://schemas.openxmlformats.org/officeDocument/2006/relationships/slideMaster" Target="/ppt/slideMasters/slideMaster1.xml" Id="Rdc61311acf814504" /><Relationship Type="http://schemas.openxmlformats.org/officeDocument/2006/relationships/notesMaster" Target="/ppt/notesMasters/notesMaster1.xml" Id="Re46e6663aa2b4fcf" /><Relationship Type="http://schemas.openxmlformats.org/officeDocument/2006/relationships/presProps" Target="/ppt/presProps.xml" Id="Rb1e13f955a324d6b" /><Relationship Type="http://schemas.openxmlformats.org/officeDocument/2006/relationships/viewProps" Target="/ppt/viewProps.xml" Id="R2959d71ada9d4827" /><Relationship Type="http://schemas.openxmlformats.org/officeDocument/2006/relationships/tableStyles" Target="/ppt/tableStyles.xml" Id="R81bdb7afe6ba495a" /><Relationship Type="http://schemas.openxmlformats.org/officeDocument/2006/relationships/slide" Target="/ppt/slides/slide1.xml" Id="R25459b3558434b9c" /><Relationship Type="http://schemas.openxmlformats.org/officeDocument/2006/relationships/slide" Target="/ppt/slides/slide2.xml" Id="R40504985c76f421c" /><Relationship Type="http://schemas.openxmlformats.org/officeDocument/2006/relationships/slide" Target="/ppt/slides/slide3.xml" Id="R3628f87a68ed48da" /><Relationship Type="http://schemas.openxmlformats.org/officeDocument/2006/relationships/slide" Target="/ppt/slides/slide4.xml" Id="R1318da70d5ff4128" /><Relationship Type="http://schemas.openxmlformats.org/officeDocument/2006/relationships/slide" Target="/ppt/slides/slide5.xml" Id="Rececea2c9bc8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6bd512b2b1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d6815601944f7" /><Relationship Type="http://schemas.openxmlformats.org/officeDocument/2006/relationships/notesMaster" Target="/ppt/notesMasters/notesMaster1.xml" Id="R39e606a7df60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7421e72d9749bc" /><Relationship Type="http://schemas.openxmlformats.org/officeDocument/2006/relationships/notesMaster" Target="/ppt/notesMasters/notesMaster1.xml" Id="R2ae0249d61c4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89308ce6146b8" /><Relationship Type="http://schemas.openxmlformats.org/officeDocument/2006/relationships/notesMaster" Target="/ppt/notesMasters/notesMaster1.xml" Id="R295207deb54849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cfbf387b44a7f" /><Relationship Type="http://schemas.openxmlformats.org/officeDocument/2006/relationships/notesMaster" Target="/ppt/notesMasters/notesMaster1.xml" Id="R257c99bd9923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b08e53b0845ff" /><Relationship Type="http://schemas.openxmlformats.org/officeDocument/2006/relationships/notesMaster" Target="/ppt/notesMasters/notesMaster1.xml" Id="Rf134356d9cb7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CampusPulse AI: учебный помощник на Gemini и MCP. На обложке реальный экран локального приложения. Основание задания: FINAL Задачи_хакатона.docx.pdf, кейс № 2. Важный статус: локальный Gemini API работает, Agent Engine ещё не развёрнут из-за отсутствия активного биллинга.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постановка проблемы и гипотеза полезности, а не результаты пользовательского исследования. Продукт объединяет внешние источники, материалы и расчёт времени. Измеренное влияние на успеваемость пока не исследовано.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скриншот обновлённого локального приложения. Планировщик учитывает сроки, доступное время и часовой пояс. Демонстрационные задачи обозначены как примеры. Это иллюстрация конкретного запуска, не метрика эффективности. Источник: docs/images/plan.png.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выбирает подходящий инструмент и получает его результат через MCP. При необходимости модель вызывает следующий инструмент и затем формирует ответ. Интерфейс показывает фактические вызовы, источники и учебный план. Двусторонняя связь обозначает обмен запросом и результатом. Инструменты читают GitHub и загруженные конспекты, рассчитывают сроки и расписание. Исходники: campuspulse/agent.py и campuspulse/mcp_server.py. MCP Python SDK: https://github.com/modelcontextprotocol/python-sdk.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Локальное демо использует Gemini 3.5 Flash-Lite через бесплатный Gemini Developer API, с ограниченной квотой. Автотесты и отдельный live-прогон подтвердили работу MCP: получение времени, чтение GitHub README, поиск по материалам и построение плана. GCP Agent Engine не развёрнут: нужен проект с активным биллингом и доступными средствами или кредитами. Для deployment подготовлены пакет агента, ReasoningEngine.create и API-клиент. Скрипт не заменяет успешный облачный запуск. Пользователь подчеркнул ограничение по бюджету в исходной презентации. Источники: docs/live-run.json, scripts/deploy.py, scripts/smoke_cloud.py. https://ai.google.dev/gemini-api/docs/pricing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337ff86774f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0c22f91674f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6624a556d49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148254e0d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370aa8d7442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4a88f588b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8A6A5F-2B13-4246-B930-0A5D6B0A9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46DBDC-6287-4BD7-9F9C-5595A0073D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AEC87F-83D5-4115-B134-C60BE8CE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8C48E-6591-4F08-8BB0-976D5E4EF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72AB64-E5DE-409B-83BF-BA2E1EA88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F3C342-FBB3-423B-9458-94BFB1927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9B5DFD-91EF-4252-AF36-0BEC85511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788154-4CEC-4AF3-BD1E-0D41A138A5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2D9373-261A-4D2C-9305-83E71B7B8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246E4B-399F-4DC5-AB96-2612EC60F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44c830e492436c" /><Relationship Type="http://schemas.openxmlformats.org/officeDocument/2006/relationships/slideLayout" Target="/ppt/slideLayouts/slideLayout1.xml" Id="R0eafe37209ab491d" /><Relationship Type="http://schemas.openxmlformats.org/officeDocument/2006/relationships/slideLayout" Target="/ppt/slideLayouts/slideLayout2.xml" Id="R83a93a7e94dd4d47" /><Relationship Type="http://schemas.openxmlformats.org/officeDocument/2006/relationships/slideLayout" Target="/ppt/slideLayouts/slideLayout3.xml" Id="R42a823ed3e484c17" /><Relationship Type="http://schemas.openxmlformats.org/officeDocument/2006/relationships/slideLayout" Target="/ppt/slideLayouts/slideLayout4.xml" Id="Rcd6ea7e3f164429d" /><Relationship Type="http://schemas.openxmlformats.org/officeDocument/2006/relationships/slideLayout" Target="/ppt/slideLayouts/slideLayout5.xml" Id="Rf741358d05234785" /><Relationship Type="http://schemas.openxmlformats.org/officeDocument/2006/relationships/slideLayout" Target="/ppt/slideLayouts/slideLayout6.xml" Id="R441cea20a23a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fe37209ab491d"/>
    <p:sldLayoutId xmlns:r="http://schemas.openxmlformats.org/officeDocument/2006/relationships" id="2147483650" r:id="R83a93a7e94dd4d47"/>
    <p:sldLayoutId xmlns:r="http://schemas.openxmlformats.org/officeDocument/2006/relationships" id="2147483651" r:id="R42a823ed3e484c17"/>
    <p:sldLayoutId xmlns:r="http://schemas.openxmlformats.org/officeDocument/2006/relationships" id="2147483652" r:id="Rcd6ea7e3f164429d"/>
    <p:sldLayoutId xmlns:r="http://schemas.openxmlformats.org/officeDocument/2006/relationships" id="2147483653" r:id="Rf741358d05234785"/>
    <p:sldLayoutId xmlns:r="http://schemas.openxmlformats.org/officeDocument/2006/relationships" id="2147483654" r:id="R441cea20a23a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ddb80c61d44ac" /><Relationship Type="http://schemas.openxmlformats.org/officeDocument/2006/relationships/image" Target="/ppt/media/image.jpeg" Id="Rc1fcd365aab74eb5" /><Relationship Type="http://schemas.openxmlformats.org/officeDocument/2006/relationships/notesSlide" Target="/ppt/notesSlides/notesSlide1.xml" Id="R9a21cd7ae97f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41a175a0840c8" /><Relationship Type="http://schemas.openxmlformats.org/officeDocument/2006/relationships/notesSlide" Target="/ppt/notesSlides/notesSlide2.xml" Id="R7577ffc010a54c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f3acc359940f6" /><Relationship Type="http://schemas.openxmlformats.org/officeDocument/2006/relationships/image" Target="/ppt/media/image.jpeg" Id="R15f99ef5dc9d47e6" /><Relationship Type="http://schemas.openxmlformats.org/officeDocument/2006/relationships/notesSlide" Target="/ppt/notesSlides/notesSlide3.xml" Id="R440c8e1fb32a46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4f578429e4603" /><Relationship Type="http://schemas.openxmlformats.org/officeDocument/2006/relationships/notesSlide" Target="/ppt/notesSlides/notesSlide4.xml" Id="Rb74faeff3553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024dad3ee4284" /><Relationship Type="http://schemas.openxmlformats.org/officeDocument/2006/relationships/notesSlide" Target="/ppt/notesSlides/notesSlide5.xml" Id="Rdfda1cff3a324a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75BD4CF-B3E5-4FBF-80B9-3C72D81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КЕЙС № 2 / GDG ASTANA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CBE558D-99D2-49C4-B5DE-058CBA24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A89C384-5969-429E-9B34-E30FF90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83873AE-0E2A-42A3-8992-0D266F5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CampusPulse</a:t>
            </a:r>
          </a:p>
          <a:p xmlns:a="http://schemas.openxmlformats.org/drawingml/2006/main">
            <a: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251F083-33F9-4273-B0A8-0AEF50B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От заданий</a:t>
            </a:r>
          </a:p>
          <a:p xmlns:a="http://schemas.openxmlformats.org/drawingml/2006/main">
            <a: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к учебному плану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299A937-1E14-4BA3-AD1D-4E7E74E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Gemini выбирает действия.</a:t>
            </a:r>
          </a:p>
          <a:p xmlns:a="http://schemas.openxmlformats.org/drawingml/2006/main">
            <a: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MCP получает данные и считает время.</a:t>
            </a:r>
          </a:p>
        </p:txBody>
      </p:sp>
      <p:pic>
        <p:nvPicPr>
          <p:cNvPr id="7" name="Рисунок 6">
            <a:extLst xmlns:a="http://schemas.openxmlformats.org/drawingml/2006/main">
              <a:ext uri="{FF2B5EF4-FFF2-40B4-BE49-F238E27FC236}">
                <a16:creationId xmlns:a16="http://schemas.microsoft.com/office/drawing/2014/main" id="{F267BE35-AB49-4AA9-B02D-111986586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cd365aab74eb5"/>
          <a:stretch xmlns:a="http://schemas.openxmlformats.org/drawingml/2006/main"/>
        </p:blipFill>
        <p:spPr>
          <a:xfrm xmlns:a="http://schemas.openxmlformats.org/drawingml/2006/main">
            <a:off x="7152498" y="1724025"/>
            <a:ext cx="3211479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7C08C78-CB8F-4C85-AC65-C74FB18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Работающий локальный прототип</a:t>
            </a:r>
          </a:p>
        </p:txBody>
      </p:sp>
    </p:spTree>
    <p:extLst>
      <p:ext uri="{BB962C8B-B14F-4D97-AF65-F5344CB8AC3E}">
        <p14:creationId xmlns:p14="http://schemas.microsoft.com/office/powerpoint/2010/main" val="292331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FBB9B311-BECE-47A7-A5AA-DB069DC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ПОЛЬЗОВАТЕЛЬСКАЯ ЗАДАЧА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2BB9983B-8200-45FB-8DB2-6913774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Студенту нужен выполнимый план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AA38DC2-B303-4101-BC5A-2F13A01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DE49E0F-54D5-4CB2-83B8-C25918B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D25D53B-64DE-4225-8A3F-D66B5C8B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Задания в разных местах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05D349-6EB5-46AE-9474-EEBAD09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GitHub Issues и собственные задачи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9014813C-B3A4-4AE9-B2D7-339DD6E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Собрать работу в одном контексте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5653716-1371-4DCA-98D4-CC1C0AD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Сроки и оценки неполные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62F8968A-2E98-4651-AEC2-9DD5010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Явные даты и пометки неизвестного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71B694C4-B1C3-4ADF-BDAF-039F140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Показать допущения и просрочку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0E387BA-9A4E-404E-9FB5-E8138C6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Времени меньше, чем задач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033746A-E1C6-47FD-A397-FC05111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Дневной бюджет и учебные окна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3A4A722-AC9C-477F-9784-0472D760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Распределить работу до дедлайна</a:t>
            </a:r>
          </a:p>
        </p:txBody>
      </p:sp>
    </p:spTree>
    <p:extLst>
      <p:ext uri="{BB962C8B-B14F-4D97-AF65-F5344CB8AC3E}">
        <p14:creationId xmlns:p14="http://schemas.microsoft.com/office/powerpoint/2010/main" val="1609108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822CE11A-1E67-4FC2-A5CA-7AAD280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РАБОТАЮЩИЙ ИНТЕРФЕЙС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CA57D76-C7F2-424B-8054-C220ABA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Учебный план учитывает дневной бюджет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EDA36F5-1936-49E7-8E95-39EAC9A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A8F9A1D-78CB-4000-933F-95CAEB6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5202EB0-A53A-4BAB-8B31-8F33D3040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99ef5dc9d47e6"/>
          <a:stretch xmlns:a="http://schemas.openxmlformats.org/drawingml/2006/main"/>
        </p:blipFill>
        <p:spPr>
          <a:xfrm xmlns:a="http://schemas.openxmlformats.org/drawingml/2006/main">
            <a:off x="3679979" y="1695450"/>
            <a:ext cx="4832041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24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9FF4D-AA0A-4918-B935-887FF15BA04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5330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23" name="Прямая со стрелкой 22">
            <a:extLst xmlns:a="http://schemas.openxmlformats.org/drawingml/2006/main">
              <a:ext uri="{FF2B5EF4-FFF2-40B4-BE49-F238E27FC236}">
                <a16:creationId xmlns:a16="http://schemas.microsoft.com/office/drawing/2014/main" id="{1056DA19-8F24-44FF-8ADB-6B26385C2265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953625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22" name="Прямая со стрелкой 21">
            <a:extLst xmlns:a="http://schemas.openxmlformats.org/drawingml/2006/main">
              <a:ext uri="{FF2B5EF4-FFF2-40B4-BE49-F238E27FC236}">
                <a16:creationId xmlns:a16="http://schemas.microsoft.com/office/drawing/2014/main" id="{83D228D5-F8E4-411E-92A9-44BECB322F8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905500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4" name="Прямая со стрелкой 13">
            <a:extLst xmlns:a="http://schemas.openxmlformats.org/drawingml/2006/main">
              <a:ext uri="{FF2B5EF4-FFF2-40B4-BE49-F238E27FC236}">
                <a16:creationId xmlns:a16="http://schemas.microsoft.com/office/drawing/2014/main" id="{35E82339-04E6-4985-935D-9FDED917AB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0995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489A798C-B679-4321-B371-6C1E993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48B084A-4FD5-40C3-8841-30FA225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выбирает, MCP выполняет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06419CA9-EAD3-4914-B78B-376F963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B8A9975-9F9E-4A0C-ACCA-2CF1E31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Прямоугольник: скругленные углы 4">
            <a:extLst xmlns:a="http://schemas.openxmlformats.org/drawingml/2006/main">
              <a:ext uri="{FF2B5EF4-FFF2-40B4-BE49-F238E27FC236}">
                <a16:creationId xmlns:a16="http://schemas.microsoft.com/office/drawing/2014/main" id="{CE9AF8DA-5095-478A-8F8F-DA47320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24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DE54587-FFFF-4E33-A5C8-1CCA833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E0B187C-BC4C-4F6B-9BC5-FCD4D49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Запрос, задачи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конспекты</a:t>
            </a:r>
          </a:p>
        </p:txBody>
      </p:sp>
      <p:sp>
        <p:nvSpPr>
          <p:cNvPr id="8" name="Прямоугольник: скругленные углы 7">
            <a:extLst xmlns:a="http://schemas.openxmlformats.org/drawingml/2006/main">
              <a:ext uri="{FF2B5EF4-FFF2-40B4-BE49-F238E27FC236}">
                <a16:creationId xmlns:a16="http://schemas.microsoft.com/office/drawing/2014/main" id="{EE731C70-D447-4EA1-9F79-F261DEB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895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FF0B702-6803-494D-A69B-DCA8576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Агент Gemini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B0C8D4F-D19B-4271-9FDE-83CB0C4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Выбирает инструмент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объясняет результат</a:t>
            </a:r>
          </a:p>
        </p:txBody>
      </p:sp>
      <p:sp>
        <p:nvSpPr>
          <p:cNvPr id="11" name="Прямоугольник: скругленные углы 10">
            <a:extLst xmlns:a="http://schemas.openxmlformats.org/drawingml/2006/main">
              <a:ext uri="{FF2B5EF4-FFF2-40B4-BE49-F238E27FC236}">
                <a16:creationId xmlns:a16="http://schemas.microsoft.com/office/drawing/2014/main" id="{029208CA-2723-4F83-933A-8F63385A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05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29AB449-8201-4880-885F-7EEC062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MCP-инструменты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AE329482-610C-499A-87DC-ED1539C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Получают данные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выполняют расчёты</a:t>
            </a:r>
          </a:p>
        </p:txBody>
      </p:sp>
      <p:sp>
        <p:nvSpPr>
          <p:cNvPr id="16" name="Прямоугольник: скругленные углы 15">
            <a:extLst xmlns:a="http://schemas.openxmlformats.org/drawingml/2006/main">
              <a:ext uri="{FF2B5EF4-FFF2-40B4-BE49-F238E27FC236}">
                <a16:creationId xmlns:a16="http://schemas.microsoft.com/office/drawing/2014/main" id="{80B1C1B1-C406-41EE-BF50-E6AD102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2895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7E9E293D-B7B7-4584-B5D9-F3353C4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E9898C57-00D0-43FF-9E76-F815CE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План с источниками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журналом действий</a:t>
            </a:r>
          </a:p>
        </p:txBody>
      </p:sp>
      <p:sp>
        <p:nvSpPr>
          <p:cNvPr id="19" name="Прямоугольник: скругленные углы 18">
            <a:extLst xmlns:a="http://schemas.openxmlformats.org/drawingml/2006/main">
              <a:ext uri="{FF2B5EF4-FFF2-40B4-BE49-F238E27FC236}">
                <a16:creationId xmlns:a16="http://schemas.microsoft.com/office/drawing/2014/main" id="{2DB538D0-EC3A-4E6F-ABC0-CE22DB1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05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B6C9B64-BE05-41FA-9FAA-E49B1DD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89D1E1B3-C264-436F-AFBE-1986919E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GitHub, конспекты,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дедлайны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0B66DC5E-C2F7-4D9A-A2C5-8F919E6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Экспорт плана</a:t>
            </a:r>
          </a:p>
          <a:p xmlns:a="http://schemas.openxmlformats.org/drawingml/2006/main">
            <a: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в календарь</a:t>
            </a:r>
          </a:p>
        </p:txBody>
      </p:sp>
    </p:spTree>
    <p:extLst>
      <p:ext uri="{BB962C8B-B14F-4D97-AF65-F5344CB8AC3E}">
        <p14:creationId xmlns:p14="http://schemas.microsoft.com/office/powerpoint/2010/main" val="1567927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4A03C710-F4F8-43BE-83E7-52A670F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СТАТУС ПРОЕКТА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D766D1E-312E-4284-80C2-D63DDDE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Работающее демо и облачный запуск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899DD84-896B-43DA-80A9-F8A3AABD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3925B9B-36CE-44BE-8549-3AD6DB8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3B1CBF1-D8A2-441E-8EFE-6B92D575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Работает бесплатно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4A07B91-C431-435A-9573-142E77A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+ MCP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Учебный план и конспекты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Источники и журнал действий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5F9C4D6-C2C0-4BB2-8040-EBDCA47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498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Подготовлено для GCP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4FBF14-9C6D-491A-ABCE-AE2F979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981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Скрипт Agent Engine готов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Удалённый API пока недоступен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6986C1D-33D3-4819-9254-78AC47B2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C674"/>
                </a:solidFill>
                <a:latin typeface="Arial"/>
                <a:ea typeface="Arial"/>
                <a:cs typeface="Arial"/>
              </a:rPr>
              <a:t>Agent Engine ещё не развёрнут: нужен активный биллинг GCP и бюджет.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447B8-4CB3-47EB-920C-39D7C20A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9EAFBF"/>
                </a:solidFill>
                <a:latin typeface="Arial"/>
                <a:ea typeface="Arial"/>
                <a:cs typeface="Arial"/>
              </a:rPr>
              <a:t>Проверено: автотесты и реальные вызовы Gemini/MCP.</a:t>
            </a:r>
          </a:p>
        </p:txBody>
      </p:sp>
    </p:spTree>
    <p:extLst>
      <p:ext uri="{BB962C8B-B14F-4D97-AF65-F5344CB8AC3E}">
        <p14:creationId xmlns:p14="http://schemas.microsoft.com/office/powerpoint/2010/main" val="245706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2026-10-19T17:37:25.6210000Z</dcterms:created>
  <dcterms:modified xsi:type="dcterms:W3CDTF">2026-10-19T17:37:25.6210000Z</dcterms:modified>
</coreProperties>
</file>