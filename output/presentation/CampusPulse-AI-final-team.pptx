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2d7229e9e444f" /><Relationship Type="http://schemas.openxmlformats.org/officeDocument/2006/relationships/extended-properties" Target="/docProps/app.xml" Id="R7236c9904c3446ec" /><Relationship Type="http://schemas.openxmlformats.org/officeDocument/2006/relationships/officeDocument" Target="/ppt/presentation.xml" Id="R1e280f777325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6df958b854406c"/>
  </p:sldMasterIdLst>
  <p:notesMasterIdLst>
    <p:notesMasterId xmlns:r="http://schemas.openxmlformats.org/officeDocument/2006/relationships" r:id="R381d4d902e8243eb"/>
  </p:notesMasterIdLst>
  <p:sldIdLst>
    <p:sldId xmlns:r="http://schemas.openxmlformats.org/officeDocument/2006/relationships" id="256" r:id="R4cfeadcf68c54315"/>
    <p:sldId xmlns:r="http://schemas.openxmlformats.org/officeDocument/2006/relationships" id="257" r:id="R92a28cd627a04036"/>
    <p:sldId xmlns:r="http://schemas.openxmlformats.org/officeDocument/2006/relationships" id="258" r:id="Rc48da41989a849b1"/>
    <p:sldId xmlns:r="http://schemas.openxmlformats.org/officeDocument/2006/relationships" id="259" r:id="R90cbc2d3ebdd4819"/>
    <p:sldId xmlns:r="http://schemas.openxmlformats.org/officeDocument/2006/relationships" id="260" r:id="R1ea89ab065d04e9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14b0a05524028" /><Relationship Type="http://schemas.openxmlformats.org/officeDocument/2006/relationships/slideMaster" Target="/ppt/slideMasters/slideMaster1.xml" Id="R306df958b854406c" /><Relationship Type="http://schemas.openxmlformats.org/officeDocument/2006/relationships/notesMaster" Target="/ppt/notesMasters/notesMaster1.xml" Id="R381d4d902e8243eb" /><Relationship Type="http://schemas.openxmlformats.org/officeDocument/2006/relationships/presProps" Target="/ppt/presProps.xml" Id="R7c7f48d97a444603" /><Relationship Type="http://schemas.openxmlformats.org/officeDocument/2006/relationships/viewProps" Target="/ppt/viewProps.xml" Id="Rd4488c32b55d404a" /><Relationship Type="http://schemas.openxmlformats.org/officeDocument/2006/relationships/tableStyles" Target="/ppt/tableStyles.xml" Id="R6de69f4714db4c45" /><Relationship Type="http://schemas.openxmlformats.org/officeDocument/2006/relationships/slide" Target="/ppt/slides/slide1.xml" Id="R4cfeadcf68c54315" /><Relationship Type="http://schemas.openxmlformats.org/officeDocument/2006/relationships/slide" Target="/ppt/slides/slide2.xml" Id="R92a28cd627a04036" /><Relationship Type="http://schemas.openxmlformats.org/officeDocument/2006/relationships/slide" Target="/ppt/slides/slide3.xml" Id="Rc48da41989a849b1" /><Relationship Type="http://schemas.openxmlformats.org/officeDocument/2006/relationships/slide" Target="/ppt/slides/slide4.xml" Id="R90cbc2d3ebdd4819" /><Relationship Type="http://schemas.openxmlformats.org/officeDocument/2006/relationships/slide" Target="/ppt/slides/slide5.xml" Id="R1ea89ab065d0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10ba9ba40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e66bafb66b4827" /><Relationship Type="http://schemas.openxmlformats.org/officeDocument/2006/relationships/notesMaster" Target="/ppt/notesMasters/notesMaster1.xml" Id="R93344ecd13c442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19f65e9094e7f" /><Relationship Type="http://schemas.openxmlformats.org/officeDocument/2006/relationships/notesMaster" Target="/ppt/notesMasters/notesMaster1.xml" Id="Rf8d9fc6d2e5d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d358251e8d4ef8" /><Relationship Type="http://schemas.openxmlformats.org/officeDocument/2006/relationships/notesMaster" Target="/ppt/notesMasters/notesMaster1.xml" Id="R431485a3c9a440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e5c404d18e41f5" /><Relationship Type="http://schemas.openxmlformats.org/officeDocument/2006/relationships/notesMaster" Target="/ppt/notesMasters/notesMaster1.xml" Id="Raeb160dc145a47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5b5c4dbc7f425a" /><Relationship Type="http://schemas.openxmlformats.org/officeDocument/2006/relationships/notesMaster" Target="/ppt/notesMasters/notesMaster1.xml" Id="R724904bd4780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CampusPulse AI: учебный помощник на Gemini и MCP. Команда: Адилет Бердыбеков, Булатов Артур, Зайниддин Айбек. Реальный текущий экран раздела «Агент», без частной переписки. Источник: docs/images/agent-current.jpg. Локальный Gemini API работает. Agent Engine пока не развёрнут из-за отсутствия активного биллинга.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постановка проблемы и гипотеза полезности, а не результаты пользовательского исследования. Продукт объединяет внешние источники, материалы и расчёт времени. Измеренное влияние на успеваемость пока не исследовано.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текущий экран раздела «Учебный план». Расписание находится в отдельном разделе, чат показывает ответы и журнал действий. План учитывает сроки, дневной бюджет и часовой пояс. Данные на экране служат демонстрационным примером. Источник: docs/images/plan-current.jpg, 20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Gemini выбирает подходящий инструмент и получает его результат через MCP. При необходимости модель вызывает следующий инструмент и затем формирует ответ. Интерфейс показывает фактические вызовы, источники и учебный план. Двусторонняя связь обозначает обмен запросом и результатом. Инструменты читают GitHub и загруженные конспекты, рассчитывают сроки и расписание. Исходники: campuspulse/agent.py и campuspulse/mcp_server.py. MCP Python SDK: https://github.com/modelcontextprotocol/python-sdk.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Локальное демо использует Gemini 3.5 Flash-Lite через бесплатный Gemini Developer API, с ограниченной квотой. Автотесты и отдельный live-прогон подтвердили работу MCP: получение времени, чтение GitHub README, поиск по материалам и построение плана. GCP Agent Engine не развёрнут: нужен проект с активным биллингом и доступными средствами или кредитами. Для deployment подготовлены пакет агента, ReasoningEngine.create и API-клиент. Скрипт не заменяет успешный облачный запуск. Пользователь подчеркнул ограничение по бюджету в исходной презентации. Источники: docs/live-run.json, scripts/deploy.py, scripts/smoke_cloud.py. https://ai.google.dev/gemini-api/docs/pricing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5ef6515c349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f3e4c507047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dec7ea98a47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6cdf89a7f4c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f9878d65e4d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b01df38af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8A6A5F-2B13-4246-B930-0A5D6B0A9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46DBDC-6287-4BD7-9F9C-5595A0073D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AEC87F-83D5-4115-B134-C60BE8CE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8C48E-6591-4F08-8BB0-976D5E4EF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72AB64-E5DE-409B-83BF-BA2E1EA88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F3C342-FBB3-423B-9458-94BFB1927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9B5DFD-91EF-4252-AF36-0BEC85511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788154-4CEC-4AF3-BD1E-0D41A138A5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2D9373-261A-4D2C-9305-83E71B7B8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246E4B-399F-4DC5-AB96-2612EC60F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29a2100a641fe" /><Relationship Type="http://schemas.openxmlformats.org/officeDocument/2006/relationships/slideLayout" Target="/ppt/slideLayouts/slideLayout1.xml" Id="R412e7551818649e9" /><Relationship Type="http://schemas.openxmlformats.org/officeDocument/2006/relationships/slideLayout" Target="/ppt/slideLayouts/slideLayout2.xml" Id="R03dc8ef4401f4a42" /><Relationship Type="http://schemas.openxmlformats.org/officeDocument/2006/relationships/slideLayout" Target="/ppt/slideLayouts/slideLayout3.xml" Id="R4e9c1305ae804d5d" /><Relationship Type="http://schemas.openxmlformats.org/officeDocument/2006/relationships/slideLayout" Target="/ppt/slideLayouts/slideLayout4.xml" Id="R76e957c0b11c497a" /><Relationship Type="http://schemas.openxmlformats.org/officeDocument/2006/relationships/slideLayout" Target="/ppt/slideLayouts/slideLayout5.xml" Id="R93e5cd04eff14410" /><Relationship Type="http://schemas.openxmlformats.org/officeDocument/2006/relationships/slideLayout" Target="/ppt/slideLayouts/slideLayout6.xml" Id="Rfecf98262902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e7551818649e9"/>
    <p:sldLayoutId xmlns:r="http://schemas.openxmlformats.org/officeDocument/2006/relationships" id="2147483650" r:id="R03dc8ef4401f4a42"/>
    <p:sldLayoutId xmlns:r="http://schemas.openxmlformats.org/officeDocument/2006/relationships" id="2147483651" r:id="R4e9c1305ae804d5d"/>
    <p:sldLayoutId xmlns:r="http://schemas.openxmlformats.org/officeDocument/2006/relationships" id="2147483652" r:id="R76e957c0b11c497a"/>
    <p:sldLayoutId xmlns:r="http://schemas.openxmlformats.org/officeDocument/2006/relationships" id="2147483653" r:id="R93e5cd04eff14410"/>
    <p:sldLayoutId xmlns:r="http://schemas.openxmlformats.org/officeDocument/2006/relationships" id="2147483654" r:id="Rfecf98262902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b45d8a58b84b0e" /><Relationship Type="http://schemas.openxmlformats.org/officeDocument/2006/relationships/image" Target="/ppt/media/image.jpeg" Id="Re82fcc302c974d6f" /><Relationship Type="http://schemas.openxmlformats.org/officeDocument/2006/relationships/notesSlide" Target="/ppt/notesSlides/notesSlide1.xml" Id="R166b5ba940dd40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53adbcb434f0b" /><Relationship Type="http://schemas.openxmlformats.org/officeDocument/2006/relationships/notesSlide" Target="/ppt/notesSlides/notesSlide2.xml" Id="R0b7489cb058a46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3979e292249eb" /><Relationship Type="http://schemas.openxmlformats.org/officeDocument/2006/relationships/image" Target="/ppt/media/image2.jpeg" Id="Rbf184783a0b14a10" /><Relationship Type="http://schemas.openxmlformats.org/officeDocument/2006/relationships/notesSlide" Target="/ppt/notesSlides/notesSlide3.xml" Id="Rb2ec850648c2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6adafcd794e4a" /><Relationship Type="http://schemas.openxmlformats.org/officeDocument/2006/relationships/notesSlide" Target="/ppt/notesSlides/notesSlide4.xml" Id="R1d25ba10bd98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b5313d731425c" /><Relationship Type="http://schemas.openxmlformats.org/officeDocument/2006/relationships/notesSlide" Target="/ppt/notesSlides/notesSlide5.xml" Id="R2fd056c96f7b41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75BD4CF-B3E5-4FBF-80B9-3C72D81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КЕЙС № 2 / GDG ASTANA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CBE558D-99D2-49C4-B5DE-058CBA24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A89C384-5969-429E-9B34-E30FF90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83873AE-0E2A-42A3-8992-0D266F5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CampusPulse</a:t>
            </a:r>
          </a:p>
          <a:p xmlns:a="http://schemas.openxmlformats.org/drawingml/2006/main">
            <a:pPr>
              <a:buNone/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251F083-33F9-4273-B0A8-0AEF50B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От заданий</a:t>
            </a:r>
          </a:p>
          <a:p xmlns:a="http://schemas.openxmlformats.org/drawingml/2006/main">
            <a:pPr>
              <a:buNone/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к учебному плану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299A937-1E14-4BA3-AD1D-4E7E74E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Gemini выбирает действия.</a:t>
            </a:r>
          </a:p>
          <a:p xmlns:a="http://schemas.openxmlformats.org/drawingml/2006/main">
            <a:pPr>
              <a:buNone/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MCP получает данные и считает время.</a:t>
            </a:r>
          </a:p>
        </p:txBody>
      </p:sp>
      <p:pic>
        <p:nvPicPr>
          <p:cNvPr id="7" name="Рисунок 6">
            <a:extLst xmlns:a="http://schemas.openxmlformats.org/drawingml/2006/main">
              <a:ext uri="{FF2B5EF4-FFF2-40B4-BE49-F238E27FC236}">
                <a16:creationId xmlns:a16="http://schemas.microsoft.com/office/drawing/2014/main" id="{E23CC778-CEDB-47BA-A1A0-2A52A8EA8B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fcc302c974d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10275" y="1724025"/>
            <a:ext cx="5495925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7C08C78-CB8F-4C85-AC65-C74FB18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Работающий локальный прототип</a:t>
            </a:r>
          </a:p>
        </p:txBody>
      </p:sp>
      <p:sp>
        <p:nvSpPr>
          <p:cNvPr id="10" name="team-names">
            <a:extLst xmlns:a="http://schemas.openxmlformats.org/drawingml/2006/main">
              <a:ext uri="{FF2B5EF4-FFF2-40B4-BE49-F238E27FC236}">
                <a16:creationId xmlns:a16="http://schemas.microsoft.com/office/drawing/2014/main" id="{68FE143D-369B-47FF-91B1-322303AA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6EDF5"/>
                </a:solidFill>
                <a:latin typeface="Arial"/>
                <a:ea typeface="Arial"/>
                <a:cs typeface="Arial"/>
              </a:rPr>
              <a:t>Адилет Бердыбеков | Булатов Артур | Зайниддин Айбек</a:t>
            </a:r>
          </a:p>
        </p:txBody>
      </p:sp>
    </p:spTree>
    <p:extLst>
      <p:ext uri="{BB962C8B-B14F-4D97-AF65-F5344CB8AC3E}">
        <p14:creationId xmlns:p14="http://schemas.microsoft.com/office/powerpoint/2010/main" val="292331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FBB9B311-BECE-47A7-A5AA-DB069DC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ПОЛЬЗОВАТЕЛЬСКАЯ ЗАДАЧА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2BB9983B-8200-45FB-8DB2-6913774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Студенту нужен выполнимый план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AA38DC2-B303-4101-BC5A-2F13A01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EDE49E0F-54D5-4CB2-83B8-C25918B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D25D53B-64DE-4225-8A3F-D66B5C8B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Задания в разных местах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05D349-6EB5-46AE-9474-EEBAD09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GitHub Issues и собственные задачи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9014813C-B3A4-4AE9-B2D7-339DD6E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Собрать работу в одном контексте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45653716-1371-4DCA-98D4-CC1C0AD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Сроки и оценки неполные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62F8968A-2E98-4651-AEC2-9DD5010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Явные даты и пометки неизвестного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71B694C4-B1C3-4ADF-BDAF-039F140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Показать допущения и просрочку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0E387BA-9A4E-404E-9FB5-E8138C6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Времени меньше, чем задач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033746A-E1C6-47FD-A397-FC05111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Дневной бюджет и учебные окна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3A4A722-AC9C-477F-9784-0472D760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Распределить работу до дедлайна</a:t>
            </a:r>
          </a:p>
        </p:txBody>
      </p:sp>
    </p:spTree>
    <p:extLst>
      <p:ext uri="{BB962C8B-B14F-4D97-AF65-F5344CB8AC3E}">
        <p14:creationId xmlns:p14="http://schemas.microsoft.com/office/powerpoint/2010/main" val="1609108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822CE11A-1E67-4FC2-A5CA-7AAD280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РАБОТАЮЩИЙ ИНТЕРФЕЙС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CA57D76-C7F2-424B-8054-C220ABA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Учебный план учитывает дневной бюджет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EDA36F5-1936-49E7-8E95-39EAC9A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A8F9A1D-78CB-4000-933F-95CAEB6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70D221-E4EF-4C4D-9322-5CF7E4EB3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84783a0b14a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52625" y="1695450"/>
            <a:ext cx="8286750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24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14F66-2D24-4F51-A82C-FBAEC5A01BF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5330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23" name="Прямая со стрелкой 22">
            <a:extLst xmlns:a="http://schemas.openxmlformats.org/drawingml/2006/main">
              <a:ext uri="{FF2B5EF4-FFF2-40B4-BE49-F238E27FC236}">
                <a16:creationId xmlns:a16="http://schemas.microsoft.com/office/drawing/2014/main" id="{C8F438FE-D26B-4877-8B42-104C44DD85B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953625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22" name="Прямая со стрелкой 21">
            <a:extLst xmlns:a="http://schemas.openxmlformats.org/drawingml/2006/main">
              <a:ext uri="{FF2B5EF4-FFF2-40B4-BE49-F238E27FC236}">
                <a16:creationId xmlns:a16="http://schemas.microsoft.com/office/drawing/2014/main" id="{E53CABEC-9468-4B8A-A8FE-83A40081CF66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905500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4" name="Прямая со стрелкой 13">
            <a:extLst xmlns:a="http://schemas.openxmlformats.org/drawingml/2006/main">
              <a:ext uri="{FF2B5EF4-FFF2-40B4-BE49-F238E27FC236}">
                <a16:creationId xmlns:a16="http://schemas.microsoft.com/office/drawing/2014/main" id="{4B68BB3E-9618-48BC-B992-3516FAC037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0995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489A798C-B679-4321-B371-6C1E993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48B084A-4FD5-40C3-8841-30FA225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выбирает, MCP выполняет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06419CA9-EAD3-4914-B78B-376F963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B8A9975-9F9E-4A0C-ACCA-2CF1E31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Прямоугольник: скругленные углы 4">
            <a:extLst xmlns:a="http://schemas.openxmlformats.org/drawingml/2006/main">
              <a:ext uri="{FF2B5EF4-FFF2-40B4-BE49-F238E27FC236}">
                <a16:creationId xmlns:a16="http://schemas.microsoft.com/office/drawing/2014/main" id="{CE9AF8DA-5095-478A-8F8F-DA47320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24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DE54587-FFFF-4E33-A5C8-1CCA833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E0B187C-BC4C-4F6B-9BC5-FCD4D49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Запрос, задачи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конспекты</a:t>
            </a:r>
          </a:p>
        </p:txBody>
      </p:sp>
      <p:sp>
        <p:nvSpPr>
          <p:cNvPr id="8" name="Прямоугольник: скругленные углы 7">
            <a:extLst xmlns:a="http://schemas.openxmlformats.org/drawingml/2006/main">
              <a:ext uri="{FF2B5EF4-FFF2-40B4-BE49-F238E27FC236}">
                <a16:creationId xmlns:a16="http://schemas.microsoft.com/office/drawing/2014/main" id="{EE731C70-D447-4EA1-9F79-F261DEB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895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FF0B702-6803-494D-A69B-DCA8576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Агент Gemini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B0C8D4F-D19B-4271-9FDE-83CB0C4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Выбирает инструмент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объясняет результат</a:t>
            </a:r>
          </a:p>
        </p:txBody>
      </p:sp>
      <p:sp>
        <p:nvSpPr>
          <p:cNvPr id="11" name="Прямоугольник: скругленные углы 10">
            <a:extLst xmlns:a="http://schemas.openxmlformats.org/drawingml/2006/main">
              <a:ext uri="{FF2B5EF4-FFF2-40B4-BE49-F238E27FC236}">
                <a16:creationId xmlns:a16="http://schemas.microsoft.com/office/drawing/2014/main" id="{029208CA-2723-4F83-933A-8F63385A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05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29AB449-8201-4880-885F-7EEC062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MCP-инструменты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AE329482-610C-499A-87DC-ED1539C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Получают данные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выполняют расчёты</a:t>
            </a:r>
          </a:p>
        </p:txBody>
      </p:sp>
      <p:sp>
        <p:nvSpPr>
          <p:cNvPr id="16" name="Прямоугольник: скругленные углы 15">
            <a:extLst xmlns:a="http://schemas.openxmlformats.org/drawingml/2006/main">
              <a:ext uri="{FF2B5EF4-FFF2-40B4-BE49-F238E27FC236}">
                <a16:creationId xmlns:a16="http://schemas.microsoft.com/office/drawing/2014/main" id="{80B1C1B1-C406-41EE-BF50-E6AD102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2895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7E9E293D-B7B7-4584-B5D9-F3353C4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E9898C57-00D0-43FF-9E76-F815CE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План с источниками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 журналом действий</a:t>
            </a:r>
          </a:p>
        </p:txBody>
      </p:sp>
      <p:sp>
        <p:nvSpPr>
          <p:cNvPr id="19" name="Прямоугольник: скругленные углы 18">
            <a:extLst xmlns:a="http://schemas.openxmlformats.org/drawingml/2006/main">
              <a:ext uri="{FF2B5EF4-FFF2-40B4-BE49-F238E27FC236}">
                <a16:creationId xmlns:a16="http://schemas.microsoft.com/office/drawing/2014/main" id="{2DB538D0-EC3A-4E6F-ABC0-CE22DB1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05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B6C9B64-BE05-41FA-9FAA-E49B1DD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89D1E1B3-C264-436F-AFBE-1986919E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GitHub, конспекты,</a:t>
            </a:r>
          </a:p>
          <a:p xmlns:a="http://schemas.openxmlformats.org/drawingml/2006/main">
            <a:pPr>
              <a:buNone/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дедлайны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0B66DC5E-C2F7-4D9A-A2C5-8F919E6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Экспорт плана</a:t>
            </a:r>
          </a:p>
          <a:p xmlns:a="http://schemas.openxmlformats.org/drawingml/2006/main">
            <a:pPr>
              <a:buNone/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в календарь</a:t>
            </a:r>
          </a:p>
        </p:txBody>
      </p:sp>
    </p:spTree>
    <p:extLst>
      <p:ext uri="{BB962C8B-B14F-4D97-AF65-F5344CB8AC3E}">
        <p14:creationId xmlns:p14="http://schemas.microsoft.com/office/powerpoint/2010/main" val="1567927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4A03C710-F4F8-43BE-83E7-52A670F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СТАТУС ПРОЕКТА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D766D1E-312E-4284-80C2-D63DDDE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Работающее демо и облачный запуск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899DD84-896B-43DA-80A9-F8A3AABD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3925B9B-36CE-44BE-8549-3AD6DB8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3B1CBF1-D8A2-441E-8EFE-6B92D575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Работает бесплатно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4A07B91-C431-435A-9573-142E77A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+ MCP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Учебный план и конспекты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Источники и журнал действий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5F9C4D6-C2C0-4BB2-8040-EBDCA47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498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Подготовлено для GCP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4FBF14-9C6D-491A-ABCE-AE2F979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981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Скрипт Agent Engine готов</a:t>
            </a:r>
          </a:p>
          <a:p xmlns:a="http://schemas.openxmlformats.org/drawingml/2006/main">
            <a:pPr>
              <a:buNone/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Удалённый API пока недоступен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6986C1D-33D3-4819-9254-78AC47B2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C674"/>
                </a:solidFill>
                <a:latin typeface="Arial"/>
                <a:ea typeface="Arial"/>
                <a:cs typeface="Arial"/>
              </a:rPr>
              <a:t>Agent Engine ещё не развёрнут: нужен активный биллинг GCP и бюджет.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447B8-4CB3-47EB-920C-39D7C20A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9EAFBF"/>
                </a:solidFill>
                <a:latin typeface="Arial"/>
                <a:ea typeface="Arial"/>
                <a:cs typeface="Arial"/>
              </a:rPr>
              <a:t>Проверено: автотесты и реальные вызовы Gemini/MCP.</a:t>
            </a:r>
          </a:p>
        </p:txBody>
      </p:sp>
    </p:spTree>
    <p:extLst>
      <p:ext uri="{BB962C8B-B14F-4D97-AF65-F5344CB8AC3E}">
        <p14:creationId xmlns:p14="http://schemas.microsoft.com/office/powerpoint/2010/main" val="245706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2026-10-19T18:03:44.9770000Z</dcterms:created>
  <dcterms:modified xsi:type="dcterms:W3CDTF">2026-10-19T18:03:44.9770000Z</dcterms:modified>
</coreProperties>
</file>